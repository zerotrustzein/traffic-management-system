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821B-9B8B-FD72-5608-C9F5D3F64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DF415-87BD-BE24-D080-4E8439136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794BD-9569-CFF2-C46D-E143C09D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65F07-8431-2A2E-B420-B2079C29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A1F45-2D41-A751-F969-EDE52C45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5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3314-8870-86F7-4BD7-A427ADA7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13E2B-3B4C-A649-7918-589F0C0FD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ED144-0344-3CA4-4F2F-F63ABBBB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DE203-FF7F-F5CD-C08D-17FDED0F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71126-E1BA-E5DF-0C26-0661F278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188F-551C-23D9-8531-3FF86192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257B6-153E-CC62-EA60-8210BE9A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13F92-225D-6C4D-BD9E-F5ABB8A7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9306F-1104-905A-384B-EF4C60F2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06262-7E46-3FA4-EE74-A4EBE8F5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3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4744-6D04-A3A7-1260-69C3A52D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B171D-49DB-12E9-298C-212AE31D1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29A88-9E4D-B7AC-D716-F51ED56D9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F149B-4526-C602-9E09-6D302ABD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BE361-9E5C-56C2-8223-BDF2D41B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160C0-D6C4-A7F6-8D4B-73231456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6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2A63-86A9-AC0D-FCF5-5FC3A099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D88E-0077-3CE5-761E-E8B32857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A3E9B-0E09-0060-B75F-811F64B34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C2DA9-84C7-2C68-4358-C32CE5457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7A552-E9AA-1945-C82C-337F00664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2DE4C-153C-5320-852C-831D71A2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58BA4-0A8A-63AD-90C1-C2CF4D59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CEB4D-C330-96A6-B756-348457FA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6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C42D-BDD4-83E2-6A26-E6CD3258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2854A-1E8E-1F8A-0365-5B280BD5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75D19-1865-08EC-9789-5A6285FA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F6F42-AD1D-7C46-F3F5-4FE7E10A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4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5FD74-3FE6-C133-A10B-27A14973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8DF12-826E-8D57-B677-FB3232EF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A994E-D2FF-8502-A00D-4F6BB76F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7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6338-68C0-74D3-DCF5-71178546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7CDC-80E6-7331-0A7F-F1439FD6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FADCB-EF1D-5BC2-9B9D-354F07F4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23794-D13A-B009-CAE8-F88B4F5D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FAF63-D480-7305-87ED-DEF5D76D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C219D-E63D-2443-ACF3-A12936ED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0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00AB-AB74-A178-3977-E109323E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3CDE2-C6C8-840F-628E-F09D5600E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3913C-7D23-A3AA-E430-89F1BE9A5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DB9EA-6717-8FCE-6362-141BD966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15628-A24B-A42C-27A5-93204AF4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7237D-E9D2-24F7-4B1A-B3B0659B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5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2A5D-0473-61C8-B046-10CDB944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0383F-5448-47B8-B2C2-01BCA9DEE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67181-4ED1-D91E-4F5C-DC4EC679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972DF-E0B7-C749-F644-F58EECAB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8924-B9A2-7864-6ADE-E13345C2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7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71C02-EE02-0BFC-93AE-6CBC69699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99694-D6EC-6323-179A-D9EDCCC92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209D-EDF4-C3C9-1F7F-143A47BC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9EE64-63CF-4F5E-DED3-A95B1302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FCA4-58D4-66A7-E5FE-0BC4DD18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0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F2E30-B4F2-4578-0574-EAAD4953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F97F9-2C48-C6A3-7B93-4A1FC433C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9AFD5-5890-2A05-04E2-0FFEA8CAD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1B20D-A3B2-DF51-7851-FE503C762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940C2-883B-0D50-85D2-3C2417B62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4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346164-BEF1-A2DE-E1C6-A63E0624FD6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42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F0BDA3-CFC3-A6FB-7822-237F086CBBA4}"/>
              </a:ext>
            </a:extLst>
          </p:cNvPr>
          <p:cNvSpPr/>
          <p:nvPr/>
        </p:nvSpPr>
        <p:spPr>
          <a:xfrm>
            <a:off x="6604000" y="-635000"/>
            <a:ext cx="2921000" cy="2921000"/>
          </a:xfrm>
          <a:prstGeom prst="ellipse">
            <a:avLst/>
          </a:prstGeom>
          <a:solidFill>
            <a:srgbClr val="25634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933666-6D61-E3D6-B029-66440C47E66A}"/>
              </a:ext>
            </a:extLst>
          </p:cNvPr>
          <p:cNvSpPr/>
          <p:nvPr/>
        </p:nvSpPr>
        <p:spPr>
          <a:xfrm>
            <a:off x="-508000" y="3048000"/>
            <a:ext cx="2159000" cy="2159000"/>
          </a:xfrm>
          <a:prstGeom prst="ellipse">
            <a:avLst/>
          </a:prstGeom>
          <a:solidFill>
            <a:srgbClr val="448A5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59FFB-6D94-F87F-F191-8F40170EEF9B}"/>
              </a:ext>
            </a:extLst>
          </p:cNvPr>
          <p:cNvSpPr txBox="1"/>
          <p:nvPr/>
        </p:nvSpPr>
        <p:spPr>
          <a:xfrm>
            <a:off x="558800" y="1041400"/>
            <a:ext cx="74295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Georgia" panose="02040502050405020303" pitchFamily="18" charset="0"/>
              </a:rPr>
              <a:t>Traffic Flow &amp; Congestion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D8072-AF3B-E27A-FB7D-6BD15503439A}"/>
              </a:ext>
            </a:extLst>
          </p:cNvPr>
          <p:cNvSpPr txBox="1"/>
          <p:nvPr/>
        </p:nvSpPr>
        <p:spPr>
          <a:xfrm>
            <a:off x="584200" y="2311400"/>
            <a:ext cx="5842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900">
                <a:solidFill>
                  <a:srgbClr val="DFA33A"/>
                </a:solidFill>
                <a:latin typeface="Aptos" panose="020B0004020202020204" pitchFamily="34" charset="0"/>
              </a:rPr>
              <a:t>Automated Traffic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D3BDE-777F-70B6-DC77-4419D3ECF6E7}"/>
              </a:ext>
            </a:extLst>
          </p:cNvPr>
          <p:cNvSpPr txBox="1"/>
          <p:nvPr/>
        </p:nvSpPr>
        <p:spPr>
          <a:xfrm>
            <a:off x="584200" y="2844800"/>
            <a:ext cx="6604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i="1">
                <a:solidFill>
                  <a:srgbClr val="EBF0EB"/>
                </a:solidFill>
                <a:latin typeface="Aptos" panose="020B0004020202020204" pitchFamily="34" charset="0"/>
              </a:rPr>
              <a:t>Submission-ready weekly summary deck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68511C-2981-FD62-BDC2-728F9FDF50E1}"/>
              </a:ext>
            </a:extLst>
          </p:cNvPr>
          <p:cNvSpPr/>
          <p:nvPr/>
        </p:nvSpPr>
        <p:spPr>
          <a:xfrm>
            <a:off x="584200" y="3708400"/>
            <a:ext cx="7848600" cy="990600"/>
          </a:xfrm>
          <a:prstGeom prst="roundRect">
            <a:avLst/>
          </a:prstGeom>
          <a:solidFill>
            <a:srgbClr val="2A533A">
              <a:alpha val="92000"/>
            </a:srgbClr>
          </a:solidFill>
          <a:ln w="10160">
            <a:solidFill>
              <a:srgbClr val="34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BEFBC-48A5-F508-349F-0A648FEF26C4}"/>
              </a:ext>
            </a:extLst>
          </p:cNvPr>
          <p:cNvSpPr txBox="1"/>
          <p:nvPr/>
        </p:nvSpPr>
        <p:spPr>
          <a:xfrm>
            <a:off x="787400" y="3975100"/>
            <a:ext cx="7493000" cy="5283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50">
                <a:solidFill>
                  <a:srgbClr val="F7F8F7"/>
                </a:solidFill>
                <a:latin typeface="Aptos" panose="020B0004020202020204" pitchFamily="34" charset="0"/>
              </a:rPr>
              <a:t>Week 3 added traffic-flow analysis, congestion classification, near-term prediction, and route advice using logged junction data.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A699A-D7B9-0C3E-5285-B5DAA743D56B}"/>
              </a:ext>
            </a:extLst>
          </p:cNvPr>
          <p:cNvSpPr/>
          <p:nvPr/>
        </p:nvSpPr>
        <p:spPr>
          <a:xfrm>
            <a:off x="584200" y="330200"/>
            <a:ext cx="1346200" cy="304800"/>
          </a:xfrm>
          <a:prstGeom prst="roundRect">
            <a:avLst/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DC95B-02FC-25CE-A2A6-D7BFC1BF2939}"/>
              </a:ext>
            </a:extLst>
          </p:cNvPr>
          <p:cNvSpPr txBox="1"/>
          <p:nvPr/>
        </p:nvSpPr>
        <p:spPr>
          <a:xfrm>
            <a:off x="685800" y="381000"/>
            <a:ext cx="114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292244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EF9C5-606C-8AD5-D839-C33DB73610B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Objective and implemented 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08122E-CAAD-2F13-C93C-6D83799E01E7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856D7A-583B-922B-099F-684AA8B010B9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35796-C575-CA68-B605-41A95762E380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09175A-11E7-5A49-4BFE-F8F0B79AC1E7}"/>
              </a:ext>
            </a:extLst>
          </p:cNvPr>
          <p:cNvSpPr/>
          <p:nvPr/>
        </p:nvSpPr>
        <p:spPr>
          <a:xfrm>
            <a:off x="431800" y="1041400"/>
            <a:ext cx="52832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0869B-C2B1-EA6F-852A-F2B454682269}"/>
              </a:ext>
            </a:extLst>
          </p:cNvPr>
          <p:cNvSpPr txBox="1"/>
          <p:nvPr/>
        </p:nvSpPr>
        <p:spPr>
          <a:xfrm>
            <a:off x="533400" y="1193800"/>
            <a:ext cx="5080000" cy="2472472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600">
                <a:solidFill>
                  <a:srgbClr val="313A32"/>
                </a:solidFill>
                <a:latin typeface="Aptos" panose="020B0004020202020204" pitchFamily="34" charset="0"/>
              </a:rPr>
              <a:t>• Objective: analyse traffic flow at different times and identify congestion-prone areas.
• Implemented time-window congestion analysis and saved congestion records per junction.
• Implemented flow, hourly, prediction, and alternative-route endpoints for visualisation and route advice.
• Django sends congestion alerts to drivers when results reach HIGH or SEVERE.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DEC0B4-AF9C-7873-4C8B-4AC465C2E6EF}"/>
              </a:ext>
            </a:extLst>
          </p:cNvPr>
          <p:cNvSpPr/>
          <p:nvPr/>
        </p:nvSpPr>
        <p:spPr>
          <a:xfrm>
            <a:off x="6019800" y="1244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3F57E-846E-F1E3-E4F0-DAE4A3E981AB}"/>
              </a:ext>
            </a:extLst>
          </p:cNvPr>
          <p:cNvSpPr txBox="1"/>
          <p:nvPr/>
        </p:nvSpPr>
        <p:spPr>
          <a:xfrm>
            <a:off x="6172200" y="13716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10 APIs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030DD-6ACE-66D1-2FD4-2184292CD131}"/>
              </a:ext>
            </a:extLst>
          </p:cNvPr>
          <p:cNvSpPr txBox="1"/>
          <p:nvPr/>
        </p:nvSpPr>
        <p:spPr>
          <a:xfrm>
            <a:off x="6172200" y="1841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traffic analysis 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B59FD4-F296-1B13-EF76-D2299DC6FF48}"/>
              </a:ext>
            </a:extLst>
          </p:cNvPr>
          <p:cNvSpPr/>
          <p:nvPr/>
        </p:nvSpPr>
        <p:spPr>
          <a:xfrm>
            <a:off x="6019800" y="24511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F5700-DCBB-468B-437A-868DDCD177DB}"/>
              </a:ext>
            </a:extLst>
          </p:cNvPr>
          <p:cNvSpPr txBox="1"/>
          <p:nvPr/>
        </p:nvSpPr>
        <p:spPr>
          <a:xfrm>
            <a:off x="6172200" y="25781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A4D5B-8CBD-C22B-8032-B74105785642}"/>
              </a:ext>
            </a:extLst>
          </p:cNvPr>
          <p:cNvSpPr txBox="1"/>
          <p:nvPr/>
        </p:nvSpPr>
        <p:spPr>
          <a:xfrm>
            <a:off x="6172200" y="30480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sequence diagrams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1CD2C6-C0C9-872B-3ED4-FBBF90150409}"/>
              </a:ext>
            </a:extLst>
          </p:cNvPr>
          <p:cNvSpPr/>
          <p:nvPr/>
        </p:nvSpPr>
        <p:spPr>
          <a:xfrm>
            <a:off x="6019800" y="3657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FF956-60F3-03E9-51E3-58AB8F7DD467}"/>
              </a:ext>
            </a:extLst>
          </p:cNvPr>
          <p:cNvSpPr txBox="1"/>
          <p:nvPr/>
        </p:nvSpPr>
        <p:spPr>
          <a:xfrm>
            <a:off x="6172200" y="3784600"/>
            <a:ext cx="23622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50E41-C573-7A7B-02F4-07F5EB398C8F}"/>
              </a:ext>
            </a:extLst>
          </p:cNvPr>
          <p:cNvSpPr txBox="1"/>
          <p:nvPr/>
        </p:nvSpPr>
        <p:spPr>
          <a:xfrm>
            <a:off x="6172200" y="4254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congestion levels</a:t>
            </a:r>
          </a:p>
        </p:txBody>
      </p:sp>
    </p:spTree>
    <p:extLst>
      <p:ext uri="{BB962C8B-B14F-4D97-AF65-F5344CB8AC3E}">
        <p14:creationId xmlns:p14="http://schemas.microsoft.com/office/powerpoint/2010/main" val="27495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0F444-D750-2D23-FCB8-0F1589ABF66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UML and main files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5B16BE-F657-284F-1778-85325C9494B0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BC5F67-73AC-4BEC-3129-CB6016150770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E7BC3-5FA0-8DAD-2664-B95F5C0DC814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E4784C-E123-9007-EE4E-31594B1B1E68}"/>
              </a:ext>
            </a:extLst>
          </p:cNvPr>
          <p:cNvSpPr/>
          <p:nvPr/>
        </p:nvSpPr>
        <p:spPr>
          <a:xfrm>
            <a:off x="431800" y="1066800"/>
            <a:ext cx="5143500" cy="3632200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67D9A-847D-8718-5969-27EAB6444D0F}"/>
              </a:ext>
            </a:extLst>
          </p:cNvPr>
          <p:cNvSpPr txBox="1"/>
          <p:nvPr/>
        </p:nvSpPr>
        <p:spPr>
          <a:xfrm>
            <a:off x="635000" y="4305300"/>
            <a:ext cx="47498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>
                <a:solidFill>
                  <a:srgbClr val="5C685D"/>
                </a:solidFill>
                <a:latin typeface="Aptos" panose="020B0004020202020204" pitchFamily="34" charset="0"/>
              </a:rPr>
              <a:t>Use case diagram from docs/week3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A117AC-7E91-72F0-D94F-57B5093B911E}"/>
              </a:ext>
            </a:extLst>
          </p:cNvPr>
          <p:cNvSpPr/>
          <p:nvPr/>
        </p:nvSpPr>
        <p:spPr>
          <a:xfrm>
            <a:off x="5880100" y="1066800"/>
            <a:ext cx="28321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08A6-38E5-4AB0-2EE6-4A70F7BB252A}"/>
              </a:ext>
            </a:extLst>
          </p:cNvPr>
          <p:cNvSpPr txBox="1"/>
          <p:nvPr/>
        </p:nvSpPr>
        <p:spPr>
          <a:xfrm>
            <a:off x="6057900" y="1244600"/>
            <a:ext cx="2413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9402D"/>
                </a:solidFill>
                <a:latin typeface="Georgia" panose="02040502050405020303" pitchFamily="18" charset="0"/>
              </a:rPr>
              <a:t>Main 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FB05B-89D0-ED25-C9EF-E7F47BDE4BFC}"/>
              </a:ext>
            </a:extLst>
          </p:cNvPr>
          <p:cNvSpPr txBox="1"/>
          <p:nvPr/>
        </p:nvSpPr>
        <p:spPr>
          <a:xfrm>
            <a:off x="5994400" y="1600200"/>
            <a:ext cx="2590800" cy="3303468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320">
                <a:solidFill>
                  <a:srgbClr val="313A32"/>
                </a:solidFill>
                <a:latin typeface="Consolas" panose="020B0609020204030204" pitchFamily="49" charset="0"/>
              </a:rPr>
              <a:t>• MicroserviceLayer/TrafficController.cpp
• MicroserviceLayer/TrafficRules.cpp
• DataAccessLayer/CongestionRepository.*
• DataAccessLayer/RoadSegmentRepository.*
• gateway/templates/traffic/*.html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29784-583E-ED89-6128-205F2A2E02E9}"/>
              </a:ext>
            </a:extLst>
          </p:cNvPr>
          <p:cNvSpPr txBox="1"/>
          <p:nvPr/>
        </p:nvSpPr>
        <p:spPr>
          <a:xfrm>
            <a:off x="6057900" y="3517900"/>
            <a:ext cx="241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19402D"/>
                </a:solidFill>
                <a:latin typeface="Georgia" panose="02040502050405020303" pitchFamily="18" charset="0"/>
              </a:rPr>
              <a:t>Repository anchors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9AA91-8EBE-F88F-A936-17B117D1472C}"/>
              </a:ext>
            </a:extLst>
          </p:cNvPr>
          <p:cNvSpPr txBox="1"/>
          <p:nvPr/>
        </p:nvSpPr>
        <p:spPr>
          <a:xfrm>
            <a:off x="5994400" y="3797300"/>
            <a:ext cx="2590800" cy="1044388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280">
                <a:solidFill>
                  <a:srgbClr val="313A32"/>
                </a:solidFill>
                <a:latin typeface="Aptos" panose="020B0004020202020204" pitchFamily="34" charset="0"/>
              </a:rPr>
              <a:t>• docs/week3/: use case + two sequence diagrams
• docs/api-testing.md and docs/verify_route_algorithm.py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7990EA-2BB5-1D23-F8CA-AA80E91F3A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33" y="1999846"/>
            <a:ext cx="3471835" cy="146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9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8394C3-7FE7-5733-816A-CFC193D3EA64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Georgia" panose="02040502050405020303" pitchFamily="18" charset="0"/>
              </a:rPr>
              <a:t>Run and test evidence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9D1E08-DCBF-EC40-ABE3-57103FB7E9E2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63B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8EE134-57BD-2EE0-3CBA-47F41751E6FD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F9C30-E699-E4FD-BE49-74FBE5D3177B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FDC5B4-4760-1FC5-0B2E-F8898E22C986}"/>
              </a:ext>
            </a:extLst>
          </p:cNvPr>
          <p:cNvSpPr/>
          <p:nvPr/>
        </p:nvSpPr>
        <p:spPr>
          <a:xfrm>
            <a:off x="4318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3C83F4-D533-2DD9-3D1D-924F2024F451}"/>
              </a:ext>
            </a:extLst>
          </p:cNvPr>
          <p:cNvSpPr/>
          <p:nvPr/>
        </p:nvSpPr>
        <p:spPr>
          <a:xfrm>
            <a:off x="31750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A93CF-52F2-FD27-F0E2-A1E6C7AD56C4}"/>
              </a:ext>
            </a:extLst>
          </p:cNvPr>
          <p:cNvSpPr txBox="1"/>
          <p:nvPr/>
        </p:nvSpPr>
        <p:spPr>
          <a:xfrm>
            <a:off x="533400" y="3200400"/>
            <a:ext cx="23876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Analyse traffic flow and record congestion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6B7EE-B464-060F-9E14-DD920002D7FF}"/>
              </a:ext>
            </a:extLst>
          </p:cNvPr>
          <p:cNvSpPr txBox="1"/>
          <p:nvPr/>
        </p:nvSpPr>
        <p:spPr>
          <a:xfrm>
            <a:off x="3276600" y="3200400"/>
            <a:ext cx="23876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Notify drivers about congestion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B522A8-1B06-379E-1C07-9C7E8A4220E6}"/>
              </a:ext>
            </a:extLst>
          </p:cNvPr>
          <p:cNvSpPr/>
          <p:nvPr/>
        </p:nvSpPr>
        <p:spPr>
          <a:xfrm>
            <a:off x="5981700" y="1117600"/>
            <a:ext cx="2730500" cy="2590800"/>
          </a:xfrm>
          <a:prstGeom prst="roundRect">
            <a:avLst/>
          </a:prstGeom>
          <a:solidFill>
            <a:srgbClr val="2A533A"/>
          </a:solidFill>
          <a:ln w="10160">
            <a:solidFill>
              <a:srgbClr val="5694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25F1D-994D-65DC-D7B0-6D4E742CE19F}"/>
              </a:ext>
            </a:extLst>
          </p:cNvPr>
          <p:cNvSpPr txBox="1"/>
          <p:nvPr/>
        </p:nvSpPr>
        <p:spPr>
          <a:xfrm>
            <a:off x="6159500" y="1282700"/>
            <a:ext cx="2336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Georgia" panose="02040502050405020303" pitchFamily="18" charset="0"/>
              </a:rPr>
              <a:t>Verification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8F80C-3365-02AD-DC4C-5EC0C62F68FA}"/>
              </a:ext>
            </a:extLst>
          </p:cNvPr>
          <p:cNvSpPr txBox="1"/>
          <p:nvPr/>
        </p:nvSpPr>
        <p:spPr>
          <a:xfrm>
            <a:off x="6083300" y="1600200"/>
            <a:ext cx="2489200" cy="2755626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160">
                <a:solidFill>
                  <a:srgbClr val="EFF4EF"/>
                </a:solidFill>
                <a:latin typeface="Aptos" panose="020B0004020202020204" pitchFamily="34" charset="0"/>
              </a:rPr>
              <a:t>• Run path: docker compose up --build, then call the gateway traffic endpoints.
• docs/api-testing.md covers POST /api/traffic/analyze plus flow, hourly, prone, and prediction reads.
• backend/tests/RulesTests.cpp verifies the LOW, MODERATE, HIGH, and SEVERE thresholds.
• gateway/gateway_app/web_views.py calls send_congestion_alert and renders the traffic pages.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55A7EB-31A9-1E45-EE06-7411AA1290D5}"/>
              </a:ext>
            </a:extLst>
          </p:cNvPr>
          <p:cNvSpPr/>
          <p:nvPr/>
        </p:nvSpPr>
        <p:spPr>
          <a:xfrm>
            <a:off x="431800" y="4013200"/>
            <a:ext cx="8280400" cy="482600"/>
          </a:xfrm>
          <a:prstGeom prst="roundRect">
            <a:avLst/>
          </a:prstGeom>
          <a:solidFill>
            <a:srgbClr val="368449">
              <a:alpha val="94000"/>
            </a:srgbClr>
          </a:solidFill>
          <a:ln w="12700">
            <a:solidFill>
              <a:srgbClr val="3684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0877AA-F772-439C-7ADC-EF9A808C5D2A}"/>
              </a:ext>
            </a:extLst>
          </p:cNvPr>
          <p:cNvSpPr txBox="1"/>
          <p:nvPr/>
        </p:nvSpPr>
        <p:spPr>
          <a:xfrm>
            <a:off x="533400" y="4127500"/>
            <a:ext cx="80772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50">
                <a:solidFill>
                  <a:srgbClr val="F8F9F8"/>
                </a:solidFill>
                <a:latin typeface="Consolas" panose="020B0609020204030204" pitchFamily="49" charset="0"/>
              </a:rPr>
              <a:t>Run: docker compose up --build   |   Traffic flow: docs/api-testing.md   |   Rule checks: backend/tests/RulesTests.cpp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C871D1-481C-C512-FD7E-22D626407C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813" y="1924959"/>
            <a:ext cx="808773" cy="5442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8B4EDE-F89B-E43E-FA2E-DC852E1DC1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829" y="1971511"/>
            <a:ext cx="707141" cy="4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3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On-screen Show (16:9)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Dergham, Zein (Postgraduate Student)</dc:creator>
  <cp:lastModifiedBy>Dergham, Zein (Postgraduate Student)</cp:lastModifiedBy>
  <cp:revision>3</cp:revision>
  <dcterms:created xsi:type="dcterms:W3CDTF">2026-07-02T13:29:29Z</dcterms:created>
  <dcterms:modified xsi:type="dcterms:W3CDTF">2026-07-02T17:49:42Z</dcterms:modified>
</cp:coreProperties>
</file>