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0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7821B-9B8B-FD72-5608-C9F5D3F64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DF415-87BD-BE24-D080-4E8439136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794BD-9569-CFF2-C46D-E143C09D8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65F07-8431-2A2E-B420-B2079C293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A1F45-2D41-A751-F969-EDE52C45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51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3314-8870-86F7-4BD7-A427ADA7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13E2B-3B4C-A649-7918-589F0C0FD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ED144-0344-3CA4-4F2F-F63ABBBBF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DE203-FF7F-F5CD-C08D-17FDED0F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71126-E1BA-E5DF-0C26-0661F2784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72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188F-551C-23D9-8531-3FF86192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257B6-153E-CC62-EA60-8210BE9A5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13F92-225D-6C4D-BD9E-F5ABB8A7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9306F-1104-905A-384B-EF4C60F2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06262-7E46-3FA4-EE74-A4EBE8F5E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3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04744-6D04-A3A7-1260-69C3A52DE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B171D-49DB-12E9-298C-212AE31D1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29A88-9E4D-B7AC-D716-F51ED56D9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F149B-4526-C602-9E09-6D302ABDA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BE361-9E5C-56C2-8223-BDF2D41B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160C0-D6C4-A7F6-8D4B-73231456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61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2A63-86A9-AC0D-FCF5-5FC3A0990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0D88E-0077-3CE5-761E-E8B32857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A3E9B-0E09-0060-B75F-811F64B34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C2DA9-84C7-2C68-4358-C32CE54577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7A552-E9AA-1945-C82C-337F00664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2DE4C-153C-5320-852C-831D71A2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C58BA4-0A8A-63AD-90C1-C2CF4D593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ECEB4D-C330-96A6-B756-348457FA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6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C42D-BDD4-83E2-6A26-E6CD3258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A2854A-1E8E-1F8A-0365-5B280BD5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75D19-1865-08EC-9789-5A6285FA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F6F42-AD1D-7C46-F3F5-4FE7E10A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4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5FD74-3FE6-C133-A10B-27A14973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8DF12-826E-8D57-B677-FB3232EF9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A994E-D2FF-8502-A00D-4F6BB76F2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7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6338-68C0-74D3-DCF5-711785464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17CDC-80E6-7331-0A7F-F1439FD6D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FADCB-EF1D-5BC2-9B9D-354F07F4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23794-D13A-B009-CAE8-F88B4F5D1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FAF63-D480-7305-87ED-DEF5D76D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C219D-E63D-2443-ACF3-A12936EDB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0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00AB-AB74-A178-3977-E109323E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E3CDE2-C6C8-840F-628E-F09D5600E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3913C-7D23-A3AA-E430-89F1BE9A5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DB9EA-6717-8FCE-6362-141BD9662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15628-A24B-A42C-27A5-93204AF4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7237D-E9D2-24F7-4B1A-B3B0659B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50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2A5D-0473-61C8-B046-10CDB944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0383F-5448-47B8-B2C2-01BCA9DEE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67181-4ED1-D91E-4F5C-DC4EC679C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972DF-E0B7-C749-F644-F58EECAB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F8924-B9A2-7864-6ADE-E13345C2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79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71C02-EE02-0BFC-93AE-6CBC69699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99694-D6EC-6323-179A-D9EDCCC92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0209D-EDF4-C3C9-1F7F-143A47BC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9EE64-63CF-4F5E-DED3-A95B1302D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8FCA4-58D4-66A7-E5FE-0BC4DD18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0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8F2E30-B4F2-4578-0574-EAAD49539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F97F9-2C48-C6A3-7B93-4A1FC433C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9AFD5-5890-2A05-04E2-0FFEA8CAD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1B20D-A3B2-DF51-7851-FE503C762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940C2-883B-0D50-85D2-3C2417B62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4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346164-BEF1-A2DE-E1C6-A63E0624FD6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42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F0BDA3-CFC3-A6FB-7822-237F086CBBA4}"/>
              </a:ext>
            </a:extLst>
          </p:cNvPr>
          <p:cNvSpPr/>
          <p:nvPr/>
        </p:nvSpPr>
        <p:spPr>
          <a:xfrm>
            <a:off x="6604000" y="-635000"/>
            <a:ext cx="2921000" cy="2921000"/>
          </a:xfrm>
          <a:prstGeom prst="ellipse">
            <a:avLst/>
          </a:prstGeom>
          <a:solidFill>
            <a:srgbClr val="256342">
              <a:alpha val="8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933666-6D61-E3D6-B029-66440C47E66A}"/>
              </a:ext>
            </a:extLst>
          </p:cNvPr>
          <p:cNvSpPr/>
          <p:nvPr/>
        </p:nvSpPr>
        <p:spPr>
          <a:xfrm>
            <a:off x="-508000" y="3048000"/>
            <a:ext cx="2159000" cy="2159000"/>
          </a:xfrm>
          <a:prstGeom prst="ellipse">
            <a:avLst/>
          </a:prstGeom>
          <a:solidFill>
            <a:srgbClr val="448A54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559FFB-6D94-F87F-F191-8F40170EEF9B}"/>
              </a:ext>
            </a:extLst>
          </p:cNvPr>
          <p:cNvSpPr txBox="1"/>
          <p:nvPr/>
        </p:nvSpPr>
        <p:spPr>
          <a:xfrm>
            <a:off x="558800" y="1041400"/>
            <a:ext cx="74295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Georgia" panose="02040502050405020303" pitchFamily="18" charset="0"/>
              </a:rPr>
              <a:t>Vehicle Registration &amp; Plate Recognition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D8072-AF3B-E27A-FB7D-6BD15503439A}"/>
              </a:ext>
            </a:extLst>
          </p:cNvPr>
          <p:cNvSpPr txBox="1"/>
          <p:nvPr/>
        </p:nvSpPr>
        <p:spPr>
          <a:xfrm>
            <a:off x="584200" y="2311400"/>
            <a:ext cx="584200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900">
                <a:solidFill>
                  <a:srgbClr val="DFA33A"/>
                </a:solidFill>
                <a:latin typeface="Aptos" panose="020B0004020202020204" pitchFamily="34" charset="0"/>
              </a:rPr>
              <a:t>Automated Traffic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D3BDE-777F-70B6-DC77-4419D3ECF6E7}"/>
              </a:ext>
            </a:extLst>
          </p:cNvPr>
          <p:cNvSpPr txBox="1"/>
          <p:nvPr/>
        </p:nvSpPr>
        <p:spPr>
          <a:xfrm>
            <a:off x="584200" y="2844800"/>
            <a:ext cx="6604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 i="1">
                <a:solidFill>
                  <a:srgbClr val="EBF0EB"/>
                </a:solidFill>
                <a:latin typeface="Aptos" panose="020B0004020202020204" pitchFamily="34" charset="0"/>
              </a:rPr>
              <a:t>Submission-ready weekly summary deck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68511C-2981-FD62-BDC2-728F9FDF50E1}"/>
              </a:ext>
            </a:extLst>
          </p:cNvPr>
          <p:cNvSpPr/>
          <p:nvPr/>
        </p:nvSpPr>
        <p:spPr>
          <a:xfrm>
            <a:off x="584200" y="3708400"/>
            <a:ext cx="7848600" cy="990600"/>
          </a:xfrm>
          <a:prstGeom prst="roundRect">
            <a:avLst/>
          </a:prstGeom>
          <a:solidFill>
            <a:srgbClr val="2A533A">
              <a:alpha val="92000"/>
            </a:srgbClr>
          </a:solidFill>
          <a:ln w="10160">
            <a:solidFill>
              <a:srgbClr val="3474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BEFBC-48A5-F508-349F-0A648FEF26C4}"/>
              </a:ext>
            </a:extLst>
          </p:cNvPr>
          <p:cNvSpPr txBox="1"/>
          <p:nvPr/>
        </p:nvSpPr>
        <p:spPr>
          <a:xfrm>
            <a:off x="787400" y="3975100"/>
            <a:ext cx="7493000" cy="5283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50">
                <a:solidFill>
                  <a:srgbClr val="F7F8F7"/>
                </a:solidFill>
                <a:latin typeface="Aptos" panose="020B0004020202020204" pitchFamily="34" charset="0"/>
              </a:rPr>
              <a:t>Week 1 established vehicle registration, input validation, and junction plate logging through the Django gateway, Crow backend, and PostgreSQL-backed records.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3A699A-D7B9-0C3E-5285-B5DAA743D56B}"/>
              </a:ext>
            </a:extLst>
          </p:cNvPr>
          <p:cNvSpPr/>
          <p:nvPr/>
        </p:nvSpPr>
        <p:spPr>
          <a:xfrm>
            <a:off x="584200" y="330200"/>
            <a:ext cx="1346200" cy="304800"/>
          </a:xfrm>
          <a:prstGeom prst="roundRect">
            <a:avLst/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6DC95B-02FC-25CE-A2A6-D7BFC1BF2939}"/>
              </a:ext>
            </a:extLst>
          </p:cNvPr>
          <p:cNvSpPr txBox="1"/>
          <p:nvPr/>
        </p:nvSpPr>
        <p:spPr>
          <a:xfrm>
            <a:off x="685800" y="381000"/>
            <a:ext cx="114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1</a:t>
            </a:r>
          </a:p>
        </p:txBody>
      </p:sp>
    </p:spTree>
    <p:extLst>
      <p:ext uri="{BB962C8B-B14F-4D97-AF65-F5344CB8AC3E}">
        <p14:creationId xmlns:p14="http://schemas.microsoft.com/office/powerpoint/2010/main" val="292244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EF9C5-606C-8AD5-D839-C33DB73610BD}"/>
              </a:ext>
            </a:extLst>
          </p:cNvPr>
          <p:cNvSpPr txBox="1"/>
          <p:nvPr/>
        </p:nvSpPr>
        <p:spPr>
          <a:xfrm>
            <a:off x="431800" y="279400"/>
            <a:ext cx="6604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19402D"/>
                </a:solidFill>
                <a:latin typeface="Georgia" panose="02040502050405020303" pitchFamily="18" charset="0"/>
              </a:rPr>
              <a:t>Objective and implemented work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08122E-CAAD-2F13-C93C-6D83799E01E7}"/>
              </a:ext>
            </a:extLst>
          </p:cNvPr>
          <p:cNvCxnSpPr/>
          <p:nvPr/>
        </p:nvCxnSpPr>
        <p:spPr>
          <a:xfrm>
            <a:off x="431800" y="800100"/>
            <a:ext cx="8255000" cy="0"/>
          </a:xfrm>
          <a:prstGeom prst="line">
            <a:avLst/>
          </a:prstGeom>
          <a:ln w="19050">
            <a:solidFill>
              <a:srgbClr val="4AA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856D7A-583B-922B-099F-684AA8B010B9}"/>
              </a:ext>
            </a:extLst>
          </p:cNvPr>
          <p:cNvSpPr/>
          <p:nvPr/>
        </p:nvSpPr>
        <p:spPr>
          <a:xfrm>
            <a:off x="7429500" y="228600"/>
            <a:ext cx="1549400" cy="304800"/>
          </a:xfrm>
          <a:prstGeom prst="roundRect">
            <a:avLst>
              <a:gd name="adj" fmla="val 20000"/>
            </a:avLst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35796-C575-CA68-B605-41A95762E380}"/>
              </a:ext>
            </a:extLst>
          </p:cNvPr>
          <p:cNvSpPr txBox="1"/>
          <p:nvPr/>
        </p:nvSpPr>
        <p:spPr>
          <a:xfrm>
            <a:off x="7531100" y="266700"/>
            <a:ext cx="1346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09175A-11E7-5A49-4BFE-F8F0B79AC1E7}"/>
              </a:ext>
            </a:extLst>
          </p:cNvPr>
          <p:cNvSpPr/>
          <p:nvPr/>
        </p:nvSpPr>
        <p:spPr>
          <a:xfrm>
            <a:off x="431800" y="1041400"/>
            <a:ext cx="5283200" cy="3632200"/>
          </a:xfrm>
          <a:prstGeom prst="roundRect">
            <a:avLst/>
          </a:prstGeom>
          <a:solidFill>
            <a:srgbClr val="EEF3EE"/>
          </a:solidFill>
          <a:ln w="10160">
            <a:solidFill>
              <a:srgbClr val="CEDDD0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0869B-C2B1-EA6F-852A-F2B454682269}"/>
              </a:ext>
            </a:extLst>
          </p:cNvPr>
          <p:cNvSpPr txBox="1"/>
          <p:nvPr/>
        </p:nvSpPr>
        <p:spPr>
          <a:xfrm>
            <a:off x="533400" y="1193800"/>
            <a:ext cx="5080000" cy="2718693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600">
                <a:solidFill>
                  <a:srgbClr val="313A32"/>
                </a:solidFill>
                <a:latin typeface="Aptos" panose="020B0004020202020204" pitchFamily="34" charset="0"/>
              </a:rPr>
              <a:t>• Objective: register vehicles and record plates observed at city junctions.
• Implemented vehicle registration with owner details and validation for plate, email, phone, and vehicle type.
• Implemented junction logging with REGISTERED or UNREGISTERED status and automatic speeding flags when the speed limit is exceeded.
• Delivered the first end-to-end API flow through Django, Crow, and PostgreSQL.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DEC0B4-AF9C-7873-4C8B-4AC465C2E6EF}"/>
              </a:ext>
            </a:extLst>
          </p:cNvPr>
          <p:cNvSpPr/>
          <p:nvPr/>
        </p:nvSpPr>
        <p:spPr>
          <a:xfrm>
            <a:off x="6019800" y="1244600"/>
            <a:ext cx="2667000" cy="1066800"/>
          </a:xfrm>
          <a:prstGeom prst="roundRect">
            <a:avLst/>
          </a:prstGeom>
          <a:solidFill>
            <a:srgbClr val="EAF0EA"/>
          </a:solidFill>
          <a:ln w="10160">
            <a:solidFill>
              <a:srgbClr val="C9D9CA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3F57E-846E-F1E3-E4F0-DAE4A3E981AB}"/>
              </a:ext>
            </a:extLst>
          </p:cNvPr>
          <p:cNvSpPr txBox="1"/>
          <p:nvPr/>
        </p:nvSpPr>
        <p:spPr>
          <a:xfrm>
            <a:off x="6172200" y="1371600"/>
            <a:ext cx="23622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600" b="1">
                <a:solidFill>
                  <a:srgbClr val="19402D"/>
                </a:solidFill>
                <a:latin typeface="Georgia" panose="02040502050405020303" pitchFamily="18" charset="0"/>
              </a:rPr>
              <a:t>7 APIs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030DD-6ACE-66D1-2FD4-2184292CD131}"/>
              </a:ext>
            </a:extLst>
          </p:cNvPr>
          <p:cNvSpPr txBox="1"/>
          <p:nvPr/>
        </p:nvSpPr>
        <p:spPr>
          <a:xfrm>
            <a:off x="6172200" y="1841500"/>
            <a:ext cx="2362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>
                <a:solidFill>
                  <a:srgbClr val="5C685D"/>
                </a:solidFill>
                <a:latin typeface="Aptos" panose="020B0004020202020204" pitchFamily="34" charset="0"/>
              </a:rPr>
              <a:t>vehicle + junction flow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4B59FD4-F296-1B13-EF76-D2299DC6FF48}"/>
              </a:ext>
            </a:extLst>
          </p:cNvPr>
          <p:cNvSpPr/>
          <p:nvPr/>
        </p:nvSpPr>
        <p:spPr>
          <a:xfrm>
            <a:off x="6019800" y="2451100"/>
            <a:ext cx="2667000" cy="1066800"/>
          </a:xfrm>
          <a:prstGeom prst="roundRect">
            <a:avLst/>
          </a:prstGeom>
          <a:solidFill>
            <a:srgbClr val="EAF0EA"/>
          </a:solidFill>
          <a:ln w="10160">
            <a:solidFill>
              <a:srgbClr val="C9D9CA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6F5700-DCBB-468B-437A-868DDCD177DB}"/>
              </a:ext>
            </a:extLst>
          </p:cNvPr>
          <p:cNvSpPr txBox="1"/>
          <p:nvPr/>
        </p:nvSpPr>
        <p:spPr>
          <a:xfrm>
            <a:off x="6172200" y="2578100"/>
            <a:ext cx="23622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600" b="1">
                <a:solidFill>
                  <a:srgbClr val="19402D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4A4D5B-8CBD-C22B-8032-B74105785642}"/>
              </a:ext>
            </a:extLst>
          </p:cNvPr>
          <p:cNvSpPr txBox="1"/>
          <p:nvPr/>
        </p:nvSpPr>
        <p:spPr>
          <a:xfrm>
            <a:off x="6172200" y="3048000"/>
            <a:ext cx="2362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>
                <a:solidFill>
                  <a:srgbClr val="5C685D"/>
                </a:solidFill>
                <a:latin typeface="Aptos" panose="020B0004020202020204" pitchFamily="34" charset="0"/>
              </a:rPr>
              <a:t>sequence diagrams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1CD2C6-C0C9-872B-3ED4-FBBF90150409}"/>
              </a:ext>
            </a:extLst>
          </p:cNvPr>
          <p:cNvSpPr/>
          <p:nvPr/>
        </p:nvSpPr>
        <p:spPr>
          <a:xfrm>
            <a:off x="6019800" y="3657600"/>
            <a:ext cx="2667000" cy="1066800"/>
          </a:xfrm>
          <a:prstGeom prst="roundRect">
            <a:avLst/>
          </a:prstGeom>
          <a:solidFill>
            <a:srgbClr val="EAF0EA"/>
          </a:solidFill>
          <a:ln w="10160">
            <a:solidFill>
              <a:srgbClr val="C9D9CA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FF956-60F3-03E9-51E3-58AB8F7DD467}"/>
              </a:ext>
            </a:extLst>
          </p:cNvPr>
          <p:cNvSpPr txBox="1"/>
          <p:nvPr/>
        </p:nvSpPr>
        <p:spPr>
          <a:xfrm>
            <a:off x="6172200" y="3784600"/>
            <a:ext cx="23622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400" b="1">
                <a:solidFill>
                  <a:srgbClr val="19402D"/>
                </a:solidFill>
                <a:latin typeface="Georgia" panose="02040502050405020303" pitchFamily="18" charset="0"/>
              </a:rPr>
              <a:t>Validated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E50E41-C573-7A7B-02F4-07F5EB398C8F}"/>
              </a:ext>
            </a:extLst>
          </p:cNvPr>
          <p:cNvSpPr txBox="1"/>
          <p:nvPr/>
        </p:nvSpPr>
        <p:spPr>
          <a:xfrm>
            <a:off x="6172200" y="4254500"/>
            <a:ext cx="2362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>
                <a:solidFill>
                  <a:srgbClr val="5C685D"/>
                </a:solidFill>
                <a:latin typeface="Aptos" panose="020B0004020202020204" pitchFamily="34" charset="0"/>
              </a:rPr>
              <a:t>plate + owner input</a:t>
            </a:r>
          </a:p>
        </p:txBody>
      </p:sp>
    </p:spTree>
    <p:extLst>
      <p:ext uri="{BB962C8B-B14F-4D97-AF65-F5344CB8AC3E}">
        <p14:creationId xmlns:p14="http://schemas.microsoft.com/office/powerpoint/2010/main" val="274954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C0F444-D750-2D23-FCB8-0F1589ABF66D}"/>
              </a:ext>
            </a:extLst>
          </p:cNvPr>
          <p:cNvSpPr txBox="1"/>
          <p:nvPr/>
        </p:nvSpPr>
        <p:spPr>
          <a:xfrm>
            <a:off x="431800" y="279400"/>
            <a:ext cx="6604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19402D"/>
                </a:solidFill>
                <a:latin typeface="Georgia" panose="02040502050405020303" pitchFamily="18" charset="0"/>
              </a:rPr>
              <a:t>UML and main files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5B16BE-F657-284F-1778-85325C9494B0}"/>
              </a:ext>
            </a:extLst>
          </p:cNvPr>
          <p:cNvCxnSpPr/>
          <p:nvPr/>
        </p:nvCxnSpPr>
        <p:spPr>
          <a:xfrm>
            <a:off x="431800" y="800100"/>
            <a:ext cx="8255000" cy="0"/>
          </a:xfrm>
          <a:prstGeom prst="line">
            <a:avLst/>
          </a:prstGeom>
          <a:ln w="19050">
            <a:solidFill>
              <a:srgbClr val="4AA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BC5F67-73AC-4BEC-3129-CB6016150770}"/>
              </a:ext>
            </a:extLst>
          </p:cNvPr>
          <p:cNvSpPr/>
          <p:nvPr/>
        </p:nvSpPr>
        <p:spPr>
          <a:xfrm>
            <a:off x="7429500" y="228600"/>
            <a:ext cx="1549400" cy="304800"/>
          </a:xfrm>
          <a:prstGeom prst="roundRect">
            <a:avLst>
              <a:gd name="adj" fmla="val 20000"/>
            </a:avLst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3E7BC3-5FA0-8DAD-2664-B95F5C0DC814}"/>
              </a:ext>
            </a:extLst>
          </p:cNvPr>
          <p:cNvSpPr txBox="1"/>
          <p:nvPr/>
        </p:nvSpPr>
        <p:spPr>
          <a:xfrm>
            <a:off x="7531100" y="266700"/>
            <a:ext cx="1346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E4784C-E123-9007-EE4E-31594B1B1E68}"/>
              </a:ext>
            </a:extLst>
          </p:cNvPr>
          <p:cNvSpPr/>
          <p:nvPr/>
        </p:nvSpPr>
        <p:spPr>
          <a:xfrm>
            <a:off x="431800" y="1066800"/>
            <a:ext cx="5143500" cy="3632200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CEDDD0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67D9A-847D-8718-5969-27EAB6444D0F}"/>
              </a:ext>
            </a:extLst>
          </p:cNvPr>
          <p:cNvSpPr txBox="1"/>
          <p:nvPr/>
        </p:nvSpPr>
        <p:spPr>
          <a:xfrm>
            <a:off x="635000" y="4305300"/>
            <a:ext cx="4749800" cy="22826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150">
                <a:solidFill>
                  <a:srgbClr val="5C685D"/>
                </a:solidFill>
                <a:latin typeface="Aptos" panose="020B0004020202020204" pitchFamily="34" charset="0"/>
              </a:rPr>
              <a:t>Use case diagram from docs/week1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A117AC-7E91-72F0-D94F-57B5093B911E}"/>
              </a:ext>
            </a:extLst>
          </p:cNvPr>
          <p:cNvSpPr/>
          <p:nvPr/>
        </p:nvSpPr>
        <p:spPr>
          <a:xfrm>
            <a:off x="5880100" y="1066800"/>
            <a:ext cx="2832100" cy="3632200"/>
          </a:xfrm>
          <a:prstGeom prst="roundRect">
            <a:avLst/>
          </a:prstGeom>
          <a:solidFill>
            <a:srgbClr val="EEF3EE"/>
          </a:solidFill>
          <a:ln w="10160">
            <a:solidFill>
              <a:srgbClr val="CEDDD0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A08A6-38E5-4AB0-2EE6-4A70F7BB252A}"/>
              </a:ext>
            </a:extLst>
          </p:cNvPr>
          <p:cNvSpPr txBox="1"/>
          <p:nvPr/>
        </p:nvSpPr>
        <p:spPr>
          <a:xfrm>
            <a:off x="6057900" y="1244600"/>
            <a:ext cx="2413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9402D"/>
                </a:solidFill>
                <a:latin typeface="Georgia" panose="02040502050405020303" pitchFamily="18" charset="0"/>
              </a:rPr>
              <a:t>Main files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3FB05B-89D0-ED25-C9EF-E7F47BDE4BFC}"/>
              </a:ext>
            </a:extLst>
          </p:cNvPr>
          <p:cNvSpPr txBox="1"/>
          <p:nvPr/>
        </p:nvSpPr>
        <p:spPr>
          <a:xfrm>
            <a:off x="5994400" y="1600200"/>
            <a:ext cx="2590800" cy="3303468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320">
                <a:solidFill>
                  <a:srgbClr val="313A32"/>
                </a:solidFill>
                <a:latin typeface="Consolas" panose="020B0609020204030204" pitchFamily="49" charset="0"/>
              </a:rPr>
              <a:t>• MicroserviceLayer/VehicleController.cpp
• MicroserviceLayer/JunctionController.cpp
• MicroserviceLayer/VehicleValidator.cpp
• DataAccessLayer/VehicleRepository.*
• DataAccessLayer/JunctionLogRepository.*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829784-583E-ED89-6128-205F2A2E02E9}"/>
              </a:ext>
            </a:extLst>
          </p:cNvPr>
          <p:cNvSpPr txBox="1"/>
          <p:nvPr/>
        </p:nvSpPr>
        <p:spPr>
          <a:xfrm>
            <a:off x="6057900" y="3517900"/>
            <a:ext cx="241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b="1">
                <a:solidFill>
                  <a:srgbClr val="19402D"/>
                </a:solidFill>
                <a:latin typeface="Georgia" panose="02040502050405020303" pitchFamily="18" charset="0"/>
              </a:rPr>
              <a:t>Repository anchors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F9AA91-8EBE-F88F-A936-17B117D1472C}"/>
              </a:ext>
            </a:extLst>
          </p:cNvPr>
          <p:cNvSpPr txBox="1"/>
          <p:nvPr/>
        </p:nvSpPr>
        <p:spPr>
          <a:xfrm>
            <a:off x="5994400" y="3797300"/>
            <a:ext cx="2590800" cy="1044388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280">
                <a:solidFill>
                  <a:srgbClr val="313A32"/>
                </a:solidFill>
                <a:latin typeface="Aptos" panose="020B0004020202020204" pitchFamily="34" charset="0"/>
              </a:rPr>
              <a:t>• docs/week1/: use case + two sequence diagrams
• database/schema.sql and database/seed.sql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0CF106-C17D-5DA2-062C-2756E6493BA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633" y="1999846"/>
            <a:ext cx="3471835" cy="146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94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8394C3-7FE7-5733-816A-CFC193D3EA64}"/>
              </a:ext>
            </a:extLst>
          </p:cNvPr>
          <p:cNvSpPr txBox="1"/>
          <p:nvPr/>
        </p:nvSpPr>
        <p:spPr>
          <a:xfrm>
            <a:off x="431800" y="279400"/>
            <a:ext cx="6604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Georgia" panose="02040502050405020303" pitchFamily="18" charset="0"/>
              </a:rPr>
              <a:t>Run and test evidence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9D1E08-DCBF-EC40-ABE3-57103FB7E9E2}"/>
              </a:ext>
            </a:extLst>
          </p:cNvPr>
          <p:cNvCxnSpPr/>
          <p:nvPr/>
        </p:nvCxnSpPr>
        <p:spPr>
          <a:xfrm>
            <a:off x="431800" y="800100"/>
            <a:ext cx="8255000" cy="0"/>
          </a:xfrm>
          <a:prstGeom prst="line">
            <a:avLst/>
          </a:prstGeom>
          <a:ln w="19050">
            <a:solidFill>
              <a:srgbClr val="63B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8EE134-57BD-2EE0-3CBA-47F41751E6FD}"/>
              </a:ext>
            </a:extLst>
          </p:cNvPr>
          <p:cNvSpPr/>
          <p:nvPr/>
        </p:nvSpPr>
        <p:spPr>
          <a:xfrm>
            <a:off x="7429500" y="228600"/>
            <a:ext cx="1549400" cy="304800"/>
          </a:xfrm>
          <a:prstGeom prst="roundRect">
            <a:avLst>
              <a:gd name="adj" fmla="val 20000"/>
            </a:avLst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F9C30-E699-E4FD-BE49-74FBE5D3177B}"/>
              </a:ext>
            </a:extLst>
          </p:cNvPr>
          <p:cNvSpPr txBox="1"/>
          <p:nvPr/>
        </p:nvSpPr>
        <p:spPr>
          <a:xfrm>
            <a:off x="7531100" y="266700"/>
            <a:ext cx="1346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FDC5B4-4760-1FC5-0B2E-F8898E22C986}"/>
              </a:ext>
            </a:extLst>
          </p:cNvPr>
          <p:cNvSpPr/>
          <p:nvPr/>
        </p:nvSpPr>
        <p:spPr>
          <a:xfrm>
            <a:off x="431800" y="1117600"/>
            <a:ext cx="2590800" cy="2590800"/>
          </a:xfrm>
          <a:prstGeom prst="roundRect">
            <a:avLst/>
          </a:prstGeom>
          <a:solidFill>
            <a:srgbClr val="F6F8F6"/>
          </a:solidFill>
          <a:ln w="10160">
            <a:solidFill>
              <a:srgbClr val="D8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3C83F4-D533-2DD9-3D1D-924F2024F451}"/>
              </a:ext>
            </a:extLst>
          </p:cNvPr>
          <p:cNvSpPr/>
          <p:nvPr/>
        </p:nvSpPr>
        <p:spPr>
          <a:xfrm>
            <a:off x="3175000" y="1117600"/>
            <a:ext cx="2590800" cy="2590800"/>
          </a:xfrm>
          <a:prstGeom prst="roundRect">
            <a:avLst/>
          </a:prstGeom>
          <a:solidFill>
            <a:srgbClr val="F6F8F6"/>
          </a:solidFill>
          <a:ln w="10160">
            <a:solidFill>
              <a:srgbClr val="D8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A93CF-52F2-FD27-F0E2-A1E6C7AD56C4}"/>
              </a:ext>
            </a:extLst>
          </p:cNvPr>
          <p:cNvSpPr txBox="1"/>
          <p:nvPr/>
        </p:nvSpPr>
        <p:spPr>
          <a:xfrm>
            <a:off x="533400" y="3200400"/>
            <a:ext cx="2387600" cy="22826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150" b="1">
                <a:solidFill>
                  <a:srgbClr val="313A32"/>
                </a:solidFill>
                <a:latin typeface="Aptos" panose="020B0004020202020204" pitchFamily="34" charset="0"/>
              </a:rPr>
              <a:t>Register vehicle sequence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6B7EE-B464-060F-9E14-DD920002D7FF}"/>
              </a:ext>
            </a:extLst>
          </p:cNvPr>
          <p:cNvSpPr txBox="1"/>
          <p:nvPr/>
        </p:nvSpPr>
        <p:spPr>
          <a:xfrm>
            <a:off x="3276600" y="3200400"/>
            <a:ext cx="23876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150" b="1">
                <a:solidFill>
                  <a:srgbClr val="313A32"/>
                </a:solidFill>
                <a:latin typeface="Aptos" panose="020B0004020202020204" pitchFamily="34" charset="0"/>
              </a:rPr>
              <a:t>Record plate observation sequence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B522A8-1B06-379E-1C07-9C7E8A4220E6}"/>
              </a:ext>
            </a:extLst>
          </p:cNvPr>
          <p:cNvSpPr/>
          <p:nvPr/>
        </p:nvSpPr>
        <p:spPr>
          <a:xfrm>
            <a:off x="5981700" y="1117600"/>
            <a:ext cx="2730500" cy="2590800"/>
          </a:xfrm>
          <a:prstGeom prst="roundRect">
            <a:avLst/>
          </a:prstGeom>
          <a:solidFill>
            <a:srgbClr val="2A533A"/>
          </a:solidFill>
          <a:ln w="10160">
            <a:solidFill>
              <a:srgbClr val="5694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F25F1D-994D-65DC-D7B0-6D4E742CE19F}"/>
              </a:ext>
            </a:extLst>
          </p:cNvPr>
          <p:cNvSpPr txBox="1"/>
          <p:nvPr/>
        </p:nvSpPr>
        <p:spPr>
          <a:xfrm>
            <a:off x="6159500" y="1282700"/>
            <a:ext cx="2336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Georgia" panose="02040502050405020303" pitchFamily="18" charset="0"/>
              </a:rPr>
              <a:t>Verification points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18F80C-3365-02AD-DC4C-5EC0C62F68FA}"/>
              </a:ext>
            </a:extLst>
          </p:cNvPr>
          <p:cNvSpPr txBox="1"/>
          <p:nvPr/>
        </p:nvSpPr>
        <p:spPr>
          <a:xfrm>
            <a:off x="6083300" y="1600200"/>
            <a:ext cx="2489200" cy="2577116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160">
                <a:solidFill>
                  <a:srgbClr val="EFF4EF"/>
                </a:solidFill>
                <a:latin typeface="Aptos" panose="020B0004020202020204" pitchFamily="34" charset="0"/>
              </a:rPr>
              <a:t>• Run path: docker compose up --build; use the Django gateway at http://localhost:8000/api.
• docs/api-testing.md documents POST /api/vehicles and POST /api/junctions/2/log.
• backend/tests/RulesTests.cpp checks VehicleValidator::validateAll and PlateValidator::validate.
• The Postman collection supports the same registration and logging flow.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555A7EB-31A9-1E45-EE06-7411AA1290D5}"/>
              </a:ext>
            </a:extLst>
          </p:cNvPr>
          <p:cNvSpPr/>
          <p:nvPr/>
        </p:nvSpPr>
        <p:spPr>
          <a:xfrm>
            <a:off x="431800" y="4013200"/>
            <a:ext cx="8280400" cy="482600"/>
          </a:xfrm>
          <a:prstGeom prst="roundRect">
            <a:avLst/>
          </a:prstGeom>
          <a:solidFill>
            <a:srgbClr val="368449">
              <a:alpha val="94000"/>
            </a:srgbClr>
          </a:solidFill>
          <a:ln w="12700">
            <a:solidFill>
              <a:srgbClr val="3684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0877AA-F772-439C-7ADC-EF9A808C5D2A}"/>
              </a:ext>
            </a:extLst>
          </p:cNvPr>
          <p:cNvSpPr txBox="1"/>
          <p:nvPr/>
        </p:nvSpPr>
        <p:spPr>
          <a:xfrm>
            <a:off x="533400" y="4127500"/>
            <a:ext cx="80772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50">
                <a:solidFill>
                  <a:srgbClr val="F8F9F8"/>
                </a:solidFill>
                <a:latin typeface="Consolas" panose="020B0609020204030204" pitchFamily="49" charset="0"/>
              </a:rPr>
              <a:t>Run: docker compose up --build   |   API checks: docs/api-testing.md   |   Validation tests: backend/tests/RulesTests.cpp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E4DD68-E05F-2A51-4FEB-A315C6A540C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813" y="1924959"/>
            <a:ext cx="808773" cy="5442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8DF87C-C02B-AD2F-204D-98EE3DF030A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829" y="1971511"/>
            <a:ext cx="707141" cy="45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3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Microsoft Office PowerPoint</Application>
  <PresentationFormat>On-screen Show (16:9)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Dergham, Zein (Postgraduate Student)</dc:creator>
  <cp:lastModifiedBy>Dergham, Zein (Postgraduate Student)</cp:lastModifiedBy>
  <cp:revision>3</cp:revision>
  <dcterms:created xsi:type="dcterms:W3CDTF">2026-07-02T13:29:29Z</dcterms:created>
  <dcterms:modified xsi:type="dcterms:W3CDTF">2026-07-02T17:49:41Z</dcterms:modified>
</cp:coreProperties>
</file>